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gri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395853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6459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AGROTECH CHILE</a:t>
            </a:r>
          </a:p>
          <a:p>
            <a:pPr>
              <a:spcAft>
                <a:spcPts val="1600"/>
              </a:spcAft>
              <a:defRPr sz="1900" b="1">
                <a:solidFill>
                  <a:srgbClr val="10B981"/>
                </a:solidFill>
              </a:defRPr>
            </a:pPr>
            <a:r>
              <a:t>Tecnología biofísica nacida en Chile con estándar global</a:t>
            </a:r>
          </a:p>
          <a:p>
            <a:pPr>
              <a:spcAft>
                <a:spcPts val="2000"/>
              </a:spcAft>
              <a:defRPr sz="1300">
                <a:solidFill>
                  <a:srgbClr val="A7B9AF"/>
                </a:solidFill>
              </a:defRPr>
            </a:pPr>
            <a:r>
              <a:t>Ecosistema integral que fusiona teledetección satelital, telemetría in situ y modelado biofísico 3D bajo principios de permacultura y agroecología regenerativa.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BROCHURE EJECUTIVO &amp; PITCH DECK • 2026</a:t>
            </a:r>
            <a:br/>
            <a:r>
              <a:t>Valle del Maule, Chile 🇨🇱 | Proyección Internacional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200400" cy="438912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-agri-hub-fa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234440"/>
            <a:ext cx="2926080" cy="1631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41148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AgriTwin &amp; Ecosistema AgroTech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Simulación climática, protección predial y ordenamiento territorial de cuenca.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01 / PROBLEMÁTICA &amp;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 Desafío Crítico: El Costo del Riesgo No Mitigado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38912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❄️ Heladas Extremas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$15M - $35M CLP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Pérdida por hectárea en cerezos o arándanos durante una sola helada primaveral no detectada a tiempo (-2°C destruye la cosecha anual).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3891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💧 Sequía &amp; Costo Energético</a:t>
            </a:r>
          </a:p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+38% de Gasto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Sobrecosto en la factura eléctrica de bombas de riego por falta de monitoreo de agua en suelo estratificado y tarifas punta.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3891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🔥 Incendios e Inundaciones</a:t>
            </a:r>
          </a:p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122.000 ha en Riesgo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Vulnerabilidad extrema en la interfaz rural-forestal por monocultivos y desbordes repentinos en cuencas no monitoreadas.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3891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🛡️ Barreras EUDR Europa</a:t>
            </a:r>
          </a:p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100% Riesgo Rechazo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Exigencia comunitaria de no-deforestación georreferenciada. Sin trazabilidad digital, la fruta no ingresa al mercado europeo.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548640"/>
          </a:xfrm>
          <a:prstGeom prst="roundRect">
            <a:avLst/>
          </a:prstGeom>
          <a:solidFill>
            <a:srgbClr val="183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Tesis Central: El agricultor no compra 'tecnología por novedad'; invierte en blindar su patrimonio frente a eventos catastróficos.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02 / MODELO DE SOLUCIÓN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Solución AgroTech: La Tríada Regenerativa &amp; Tecnológica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20624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🌱 PILAR 1: SUELO VIVO &amp; BIOFÍSICA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Permacultura &amp; Agroecología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Diseño hidrológico Keyline para retención de agua.</a:t>
            </a:r>
            <a:br/>
            <a:r>
              <a:t>• Zonificación energética de predio (Zonas 0 a 5).</a:t>
            </a:r>
            <a:br/>
            <a:r>
              <a:t>• Fomento de microbioma y consorcios biológicos.</a:t>
            </a:r>
            <a:br/>
            <a:r>
              <a:t>• Respeto absoluto a los ciclos biofísicos de la cuenca.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20624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💻 PILAR 2: RED DIGITAL &amp; SIMULACIÓN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AgriTwin 3D &amp; Telemetría Satelital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Gemelo digital 3D interactivo en WebGL.</a:t>
            </a:r>
            <a:br/>
            <a:r>
              <a:t>• Ingesta satelital continua de Sentinel-2 L2A.</a:t>
            </a:r>
            <a:br/>
            <a:r>
              <a:t>• Modelo katabático de drenaje de aire frío (alerta heladas 72h).</a:t>
            </a:r>
            <a:br/>
            <a:r>
              <a:t>• Balance hídrico según FAO-56 Penman-Monteith.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20624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⚙️ PILAR 3: HARDWARE ROBUSTO LOCAL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Nodos KioT &amp; Automatización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Electrónica fabricada en Chile para resistir barro y polvo.</a:t>
            </a:r>
            <a:br/>
            <a:r>
              <a:t>• Gabinetes estancos IP65 con PETG técnico anti-UV.</a:t>
            </a:r>
            <a:br/>
            <a:r>
              <a:t>• Comunicación LoRaWAN de largo alcance y bajo consumo.</a:t>
            </a:r>
            <a:br/>
            <a:r>
              <a:t>• Actuación autónoma de electroválvulas y sirenas.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183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Fundamento: Filosofía de la 'Economía de los Hombros' — La tecnología al servicio de la soberanía comunitaria y la dignidad campesina.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03 / NÚCLEO TECNOLÓGICO PREDIAL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Producto Insigne: AgriTwin Predial 3D &amp; Simulación Permacultural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02336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1. Ojos en el Espacio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Sentinel-2 L2A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Pases cada 5 días. Índices NDVI (vigor), NDWI (agua) y CWSI (estrés hídrico) a 10m de resolución.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02336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2. Gemelo 3D WebGL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Biofísica en Tiempo Real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Modelación de cuarteles, topografía LIDAR y algoritmos FAO-56 Penman-Monteith en 3 estratos de suelo.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02336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3. Telemetría In Situ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Nodos KioT LoRaWAN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Sensores a nivel de suelo y canopia, humedad capacitiva y presión. Alerta de heladas con 72h de anticipación.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02336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4. Simulador Permacultural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Ahorro -35% a -66%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Zanjas Keyline, cortinas cortavientos de peumo/quillay y agrovoltaica bifacial en horario valle.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822960"/>
          </a:xfrm>
          <a:prstGeom prst="roundRect">
            <a:avLst/>
          </a:prstGeom>
          <a:solidFill>
            <a:srgbClr val="183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CASO REAL: PREDIO MENIELS (PARRAL) • 24.8 ha con 8 cuarteles monitoreados en 3D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Resultados: -38% en costo de electricidad por bombeo nocturno optimizado y 0% de daño en floración durante la última helada de septiembre.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04 / ORDENAMIENTO DE CUENCA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Escala Territorial: AgroTwin Regional y Red Centinela Comunal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CUENCA PARRAL - RETIRO (122.000 HECTÁREAS)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</a:defRPr>
            </a:pPr>
            <a:r>
              <a:t>Clasificación Satelital de Cobertura y Uso de Suelo (LULC):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• 42.600 ha Agrícola &amp; Arroz (34.9% cuenca): Polo arrocero nacional expuesto a sequía.</a:t>
            </a:r>
            <a:br/>
            <a:r>
              <a:t>• 31.800 ha Monocultivo Forestal (26.1%): Vector crítico de propagación de incendios.</a:t>
            </a:r>
            <a:br/>
            <a:r>
              <a:t>• 24.100 ha Cordillera Andina (19.8%): Recarga hídrica nivopluvial de la cuenca.</a:t>
            </a:r>
            <a:br/>
            <a:r>
              <a:t>• 18.400 ha Bosque Nativo Esclerófilo (15.1%): Amortiguador térmico y biodiversidad.</a:t>
            </a:r>
            <a:br/>
            <a:r>
              <a:t>• 3.200 ha Embalses &amp; Ríos (2.6%): Regulación hídrica Digua, Bullileo y Perquilauquén.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RED CENTINELA TERRESTRE (GROUND-TRUTH MESH)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</a:defRPr>
            </a:pPr>
            <a:r>
              <a:t>¿Cómo se alimenta sin costos astronómicos?</a:t>
            </a:r>
          </a:p>
          <a:p>
            <a:pPr>
              <a:defRPr sz="1050">
                <a:solidFill>
                  <a:srgbClr val="A7B9AF"/>
                </a:solidFill>
              </a:defRPr>
            </a:pPr>
            <a:r>
              <a:t>1. Predios como Boyas Terrestres: Cada predio con AgriTwin calibra la reflectancia satelital con lecturas físicas in situ cada 60 segundos.</a:t>
            </a:r>
            <a:br/>
            <a:br/>
            <a:r>
              <a:t>2. Alerta Temprana de Incendios (FWI): Índice de carga de combustible fino seco en la interfaz rural (Copihue, Remulcao).</a:t>
            </a:r>
            <a:br/>
            <a:br/>
            <a:r>
              <a:t>3. Protección de Comités APR: Semáforo de recarga freática para asegurar el suministro de agua potable a las comunidades rurales.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05 / VALOR GLOBAL &amp; ESG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Nivel Ecosistémico: RewildMapper &amp; Pasaporte Verde de Exportación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🌳 REWILDMAPPER &amp; BIOMONITOREO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PWA Offline para Conservación de Bosque Nativo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• Opera 100% desconectado en quebradas del Maule.</a:t>
            </a:r>
            <a:br/>
            <a:r>
              <a:t>• Registro de especies esclerófilas (peumo, quillay, boldo).</a:t>
            </a:r>
            <a:br/>
            <a:r>
              <a:t>• Emisión de Certificados PBC bajo estándar IPCC Tier-2.</a:t>
            </a:r>
            <a:br/>
            <a:r>
              <a:t>• Monetización: Comisión 12% en venta de tokens ESG a corporaciones.</a:t>
            </a:r>
          </a:p>
        </p:txBody>
      </p:sp>
      <p:pic>
        <p:nvPicPr>
          <p:cNvPr id="7" name="Picture 6" descr="rewildmapper-g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97680"/>
            <a:ext cx="484632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🛡️ PASAPORTE VERDE DE EXPORTACIÓN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Cumplimiento Satelital EUDR para la Unión Europea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• Certificación llave en mano contra deforestación post-2020 según EUDR.</a:t>
            </a:r>
            <a:br/>
            <a:r>
              <a:t>• Polígonos georreferenciados e histórico satelital auditado.</a:t>
            </a:r>
            <a:br/>
            <a:r>
              <a:t>• Blindaje total frente al bloqueo de fruta en aduanas europeas.</a:t>
            </a:r>
            <a:br/>
            <a:r>
              <a:t>• Modelo de Ingresos: €650 a €1.800 por predio exportador certificado.</a:t>
            </a:r>
          </a:p>
        </p:txBody>
      </p:sp>
      <p:pic>
        <p:nvPicPr>
          <p:cNvPr id="10" name="Picture 9" descr="img-forest-rewil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97680"/>
            <a:ext cx="4846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06 / PRICING &amp; FINANZAS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Modelo Comercial, Planes y Retorno de Inversión (ROI)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11480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BÁSICO (PREDIAL)</a:t>
            </a:r>
          </a:p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$45.000 CLP/mes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Hasta 10 ha</a:t>
            </a:r>
            <a:br/>
            <a:br/>
            <a:r>
              <a:t>• Índices Sentinel-2 (NDVI, NDWI)</a:t>
            </a:r>
            <a:br/>
            <a:r>
              <a:t>• Alerta de heladas vía WhatsApp</a:t>
            </a:r>
            <a:br/>
            <a:r>
              <a:t>• 1 usuario predial</a:t>
            </a:r>
            <a:br/>
            <a:r>
              <a:t>• Setup digital: $120.000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11480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PRO (FRUTÍCOLA / VIÑA)</a:t>
            </a:r>
          </a:p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$85.000 CLP/mes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Hasta 50 ha</a:t>
            </a:r>
            <a:br/>
            <a:br/>
            <a:r>
              <a:t>• Gemelo 3D WebGL completo</a:t>
            </a:r>
            <a:br/>
            <a:r>
              <a:t>• Balance hídrico FAO-56 diario</a:t>
            </a:r>
            <a:br/>
            <a:r>
              <a:t>• Predicción heladas 72h</a:t>
            </a:r>
            <a:br/>
            <a:r>
              <a:t>• Telemetría KioT multi-nodo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11480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ENTERPRISE / EXPORTADOR</a:t>
            </a:r>
          </a:p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$160.000 CLP/mes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&gt; 50 ha / Exportadoras</a:t>
            </a:r>
            <a:br/>
            <a:br/>
            <a:r>
              <a:t>• Trazabilidad satelital EUDR</a:t>
            </a:r>
            <a:br/>
            <a:r>
              <a:t>• API LoRaWAN ilimitada</a:t>
            </a:r>
            <a:br/>
            <a:r>
              <a:t>• Vuelos multiespectrales dron</a:t>
            </a:r>
            <a:br/>
            <a:r>
              <a:t>• Soporte prioritario 24/7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11480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HARDWARE KIOT</a:t>
            </a:r>
          </a:p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$185k - $380k CLP</a:t>
            </a:r>
          </a:p>
          <a:p>
            <a:pPr>
              <a:defRPr sz="1000">
                <a:solidFill>
                  <a:srgbClr val="A7B9AF"/>
                </a:solidFill>
              </a:defRPr>
            </a:pPr>
            <a:r>
              <a:t>Venta directa o HaaS</a:t>
            </a:r>
            <a:br/>
            <a:br/>
            <a:r>
              <a:t>• Kit Riego: $185.000 (58% margen)</a:t>
            </a:r>
            <a:br/>
            <a:r>
              <a:t>• Kit Heladas: $220.000</a:t>
            </a:r>
            <a:br/>
            <a:r>
              <a:t>• Modelo HaaS: $28.000/mes</a:t>
            </a:r>
            <a:br/>
            <a:r>
              <a:t>• Instalación vía Cooperativa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728655" cy="731520"/>
          </a:xfrm>
          <a:prstGeom prst="roundRect">
            <a:avLst/>
          </a:prstGeom>
          <a:solidFill>
            <a:srgbClr val="183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CÁLCULO DE RETORNO (ROI): UNA INVERSIÓN QUE SE PAGA SOLA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Costo plan anual + kit: ~$1.100.000 CLP. Ahorro en 1 helada evitada en 2 ha: &gt; $30.000.000 CLP. Retorno: &gt; 25 veces la inversión.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07 / ESCALABILIDAD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Estrategia de Expansión: Escalamiento Territorial y Nuevas Líneas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🗺️ EXPANSIÓN GEOGRÁFICA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Maule -&gt; Chile -&gt; Europa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Fase 1: Consolidación en Valle del Maule (Parral, Retiro, Curicó, Linares).</a:t>
            </a:r>
            <a:br/>
            <a:r>
              <a:t>• Fase 2: Escalamiento a Valles de O'Higgins y Ñuble (fruticultura intensiva y viñas).</a:t>
            </a:r>
            <a:br/>
            <a:r>
              <a:t>• Fase 3: Conexión con cuencas mediterráneas de España y Portugal con idéntico estrés hídrico.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⚡ DIVISIÓN AGROVOLTAICA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Energía Bifacial en Predios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Integración de parques solares bifaciales elevados sobre pasturas y frutales.</a:t>
            </a:r>
            <a:br/>
            <a:r>
              <a:t>• Reducción de hasta un 66% en el consumo neto de la red eléctrica predial.</a:t>
            </a:r>
            <a:br/>
            <a:r>
              <a:t>• Sombra controlada que disminuye la evapotranspiración del cultivo en un 22%.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🎲 EDUCACIÓN &amp; EDULAB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Raíces y Chips</a:t>
            </a:r>
          </a:p>
          <a:p>
            <a:pPr>
              <a:defRPr sz="1100">
                <a:solidFill>
                  <a:srgbClr val="A7B9AF"/>
                </a:solidFill>
              </a:defRPr>
            </a:pPr>
            <a:r>
              <a:t>• Juego de cartas y estrategia 'Raíces y Chips' para colegios y familias rurales.</a:t>
            </a:r>
            <a:br/>
            <a:r>
              <a:t>• Seminarios presenciales 'Manos en la Tierra': bioinsumos y permacultura digital.</a:t>
            </a:r>
            <a:br/>
            <a:r>
              <a:t>• Creación de semilleros de talento tecnológico-agrícola local.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08 / GOBERNANZA &amp;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Estructura Organizacional: Modelo Dual SpA + Cooperativa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Daniel Santander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Fundador &amp; Dirección General</a:t>
            </a:r>
          </a:p>
          <a:p>
            <a:pPr>
              <a:defRPr sz="950">
                <a:solidFill>
                  <a:srgbClr val="A7B9AF"/>
                </a:solidFill>
              </a:defRPr>
            </a:pPr>
            <a:r>
              <a:t>Arquitecto de AgriTwin, autor intelectual del código, estrategia de producto y alianzas ESG internacionales.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292608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Paulina Urrutia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Dirección Técnica &amp; Hardware</a:t>
            </a:r>
          </a:p>
          <a:p>
            <a:pPr>
              <a:defRPr sz="950">
                <a:solidFill>
                  <a:srgbClr val="A7B9AF"/>
                </a:solidFill>
              </a:defRPr>
            </a:pPr>
            <a:r>
              <a:t>Dirección de taller de manufactura en Talca, diseño PCB KiCad, gabinetes IP65 y validación de campo.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292608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Wladimir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Dirección Financiera &amp; Comunitaria</a:t>
            </a:r>
          </a:p>
          <a:p>
            <a:pPr>
              <a:defRPr sz="950">
                <a:solidFill>
                  <a:srgbClr val="A7B9AF"/>
                </a:solidFill>
              </a:defRPr>
            </a:pPr>
            <a:r>
              <a:t>Modelación financiera, convenios con APRs, gestión del Pasaporte Verde y vinculación campesina.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2926080"/>
          </a:xfrm>
          <a:prstGeom prst="roundRect">
            <a:avLst/>
          </a:prstGeom>
          <a:solidFill>
            <a:srgbClr val="13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Pablo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Inteligencia Comercial &amp; Software</a:t>
            </a:r>
          </a:p>
          <a:p>
            <a:pPr>
              <a:defRPr sz="950">
                <a:solidFill>
                  <a:srgbClr val="A7B9AF"/>
                </a:solidFill>
              </a:defRPr>
            </a:pPr>
            <a:r>
              <a:t>Modelación de algoritmos de optimización, CRM comercial, calculadoras de ROI y soporte técnico.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1836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🏛️ MODELO DE GOBERNANZA DUAL Y RED COOPERATIVA ASOCIADA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AgroTech SpA: Holding propietaria de los activos tecnológicos, licenciamiento de software y captación de capital de riesgo.</a:t>
            </a:r>
            <a:br/>
            <a:r>
              <a:t>• Cooperativa de Trabajo AgroTech: Brazo ejecutor donde participan los profesionales de terreno (Luis González en drones multiespectrales, Dra. Camila Morales en microbiología de suelos, Matías Riquelme en derecho cooperativo e Ignacia Valenzuela en vínculo campesino).</a:t>
            </a:r>
            <a:br/>
            <a:r>
              <a:t>• Propiedad Intelectual blindada: Licencia exclusiva de explotación a favor de la SpA con cláusula de reversión bioética.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2B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gri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188720"/>
            <a:ext cx="1828800" cy="2745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0116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</a:defRPr>
            </a:pPr>
            <a:r>
              <a:t>HAGAMOS DEL CAMPO UN ECOSISTEMA RESILIENTE Y RENTABLE</a:t>
            </a:r>
          </a:p>
          <a:p>
            <a:pPr algn="ctr">
              <a:spcAft>
                <a:spcPts val="2000"/>
              </a:spcAft>
              <a:defRPr sz="1300">
                <a:solidFill>
                  <a:srgbClr val="A7B9AF"/>
                </a:solidFill>
              </a:defRPr>
            </a:pPr>
            <a:r>
              <a:t>Únete a los predios pioneros que ya protegen su cosecha y optimizan sus recursos con AgriTwin.</a:t>
            </a:r>
          </a:p>
          <a:p>
            <a:pPr algn="ctr"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AGENDA UN DIAGNÓSTICO PREDIAL GRATUITO O PILOTO DE CAMPO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FFFFFF"/>
                </a:solidFill>
              </a:defRPr>
            </a:pPr>
            <a:r>
              <a:t>📧 Contacto Directo: danisantander.urrutia@gmail.com</a:t>
            </a:r>
            <a:br/>
            <a:r>
              <a:t>📍 Base de Operaciones: Parral &amp; Talca, Valle del Maule, Chile</a:t>
            </a:r>
            <a:br/>
            <a:r>
              <a:t>🌐 Ecosistema AgroTech: AgriTwin • KioT Hardware • RewildMapper</a:t>
            </a:r>
          </a:p>
          <a:p>
            <a:pPr algn="ctr">
              <a:defRPr sz="1000">
                <a:solidFill>
                  <a:srgbClr val="A7B9AF"/>
                </a:solidFill>
              </a:defRPr>
            </a:pPr>
            <a:r>
              <a:t>Ecosistema AgroTech SpA &amp; Cooperativa de Trabajo • Derechos Reservados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