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37160" cy="43891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agritw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395853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7280" y="1645920"/>
            <a:ext cx="6858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4400" b="1">
                <a:solidFill>
                  <a:srgbClr val="FFFFFF"/>
                </a:solidFill>
              </a:defRPr>
            </a:pPr>
            <a:r>
              <a:t>AGROTECH CHILE</a:t>
            </a:r>
          </a:p>
          <a:p>
            <a:pPr>
              <a:spcAft>
                <a:spcPts val="1600"/>
              </a:spcAft>
              <a:defRPr sz="1900" b="1">
                <a:solidFill>
                  <a:srgbClr val="10B981"/>
                </a:solidFill>
              </a:defRPr>
            </a:pPr>
            <a:r>
              <a:t>Tecnología biofísica nacida en Chile con estándar global</a:t>
            </a:r>
          </a:p>
          <a:p>
            <a:pPr>
              <a:spcAft>
                <a:spcPts val="2000"/>
              </a:spcAft>
              <a:defRPr sz="1300">
                <a:solidFill>
                  <a:srgbClr val="A7B9AF"/>
                </a:solidFill>
              </a:defRPr>
            </a:pPr>
            <a:r>
              <a:t>Ecosistema integral que fusiona teledetección satelital, telemetría in situ y modelado biofísico 3D bajo principios de permacultura y agroecología regenerativa.</a:t>
            </a:r>
          </a:p>
          <a:p>
            <a:pPr>
              <a:defRPr sz="1100" b="1">
                <a:solidFill>
                  <a:srgbClr val="F59E0B"/>
                </a:solidFill>
              </a:defRPr>
            </a:pPr>
            <a:r>
              <a:t>BROCHURE EJECUTIVO &amp; PITCH DECK • 2026</a:t>
            </a:r>
            <a:br/>
            <a:r>
              <a:t>Valle del Maule, Chile 🇨🇱 | Proyección Internacional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0" y="1097280"/>
            <a:ext cx="3200400" cy="4389120"/>
          </a:xfrm>
          <a:prstGeom prst="roundRect">
            <a:avLst/>
          </a:prstGeom>
          <a:solidFill>
            <a:srgbClr val="132B20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g-agri-hub-far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1234440"/>
            <a:ext cx="2926080" cy="16316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21040" y="4114800"/>
            <a:ext cx="3017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AgriTwin &amp; Ecosistema AgroTech</a:t>
            </a:r>
          </a:p>
          <a:p>
            <a:pPr>
              <a:defRPr sz="1000">
                <a:solidFill>
                  <a:srgbClr val="A7B9AF"/>
                </a:solidFill>
              </a:defRPr>
            </a:pPr>
            <a:r>
              <a:t>Simulación climática, protección predial y ordenamiento territorial de cuenca.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01 / PROBLEMÁTICA &amp; CONTEXTO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El Desafío Crítico: El Costo del Riesgo No Mitigado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514600" cy="4389120"/>
          </a:xfrm>
          <a:prstGeom prst="roundRect">
            <a:avLst/>
          </a:prstGeom>
          <a:solidFill>
            <a:srgbClr val="132B20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22402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FFFFFF"/>
                </a:solidFill>
              </a:defRPr>
            </a:pPr>
            <a:r>
              <a:t>❄️ Heladas Extremas</a:t>
            </a:r>
          </a:p>
          <a:p>
            <a:pPr>
              <a:spcAft>
                <a:spcPts val="1400"/>
              </a:spcAft>
              <a:defRPr sz="1800" b="1">
                <a:solidFill>
                  <a:srgbClr val="F59E0B"/>
                </a:solidFill>
              </a:defRPr>
            </a:pPr>
            <a:r>
              <a:t>$15M - $35M CLP</a:t>
            </a:r>
          </a:p>
          <a:p>
            <a:pPr>
              <a:defRPr sz="1100">
                <a:solidFill>
                  <a:srgbClr val="A7B9AF"/>
                </a:solidFill>
              </a:defRPr>
            </a:pPr>
            <a:r>
              <a:t>Pérdida por hectárea en cerezos o arándanos durante una sola helada primaveral no detectada a tiempo (-2°C destruye la cosecha anual).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463040"/>
            <a:ext cx="2514600" cy="4389120"/>
          </a:xfrm>
          <a:prstGeom prst="roundRect">
            <a:avLst/>
          </a:prstGeom>
          <a:solidFill>
            <a:srgbClr val="13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645920"/>
            <a:ext cx="22402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FFFFFF"/>
                </a:solidFill>
              </a:defRPr>
            </a:pPr>
            <a:r>
              <a:t>💧 Sequía &amp; Costo Energético</a:t>
            </a:r>
          </a:p>
          <a:p>
            <a:pPr>
              <a:spcAft>
                <a:spcPts val="1400"/>
              </a:spcAft>
              <a:defRPr sz="1800" b="1">
                <a:solidFill>
                  <a:srgbClr val="10B981"/>
                </a:solidFill>
              </a:defRPr>
            </a:pPr>
            <a:r>
              <a:t>+38% de Gasto</a:t>
            </a:r>
          </a:p>
          <a:p>
            <a:pPr>
              <a:defRPr sz="1100">
                <a:solidFill>
                  <a:srgbClr val="A7B9AF"/>
                </a:solidFill>
              </a:defRPr>
            </a:pPr>
            <a:r>
              <a:t>Sobrecosto en la factura eléctrica de bombas de riego por falta de monitoreo de agua en suelo estratificado y tarifas punta.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463040"/>
            <a:ext cx="2514600" cy="4389120"/>
          </a:xfrm>
          <a:prstGeom prst="roundRect">
            <a:avLst/>
          </a:prstGeom>
          <a:solidFill>
            <a:srgbClr val="13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645920"/>
            <a:ext cx="22402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FFFFFF"/>
                </a:solidFill>
              </a:defRPr>
            </a:pPr>
            <a:r>
              <a:t>🔥 Incendios e Inundaciones</a:t>
            </a:r>
          </a:p>
          <a:p>
            <a:pPr>
              <a:spcAft>
                <a:spcPts val="1400"/>
              </a:spcAft>
              <a:defRPr sz="1800" b="1">
                <a:solidFill>
                  <a:srgbClr val="10B981"/>
                </a:solidFill>
              </a:defRPr>
            </a:pPr>
            <a:r>
              <a:t>122.000 ha en Riesgo</a:t>
            </a:r>
          </a:p>
          <a:p>
            <a:pPr>
              <a:defRPr sz="1100">
                <a:solidFill>
                  <a:srgbClr val="A7B9AF"/>
                </a:solidFill>
              </a:defRPr>
            </a:pPr>
            <a:r>
              <a:t>Vulnerabilidad extrema en la interfaz rural-forestal por monocultivos y desbordes repentinos en cuencas no monitoreadas.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463040"/>
            <a:ext cx="2514600" cy="4389120"/>
          </a:xfrm>
          <a:prstGeom prst="roundRect">
            <a:avLst/>
          </a:prstGeom>
          <a:solidFill>
            <a:srgbClr val="13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0" y="1645920"/>
            <a:ext cx="22402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FFFFFF"/>
                </a:solidFill>
              </a:defRPr>
            </a:pPr>
            <a:r>
              <a:t>🛡️ Barreras EUDR Europa</a:t>
            </a:r>
          </a:p>
          <a:p>
            <a:pPr>
              <a:spcAft>
                <a:spcPts val="1400"/>
              </a:spcAft>
              <a:defRPr sz="1800" b="1">
                <a:solidFill>
                  <a:srgbClr val="10B981"/>
                </a:solidFill>
              </a:defRPr>
            </a:pPr>
            <a:r>
              <a:t>100% Riesgo Rechazo</a:t>
            </a:r>
          </a:p>
          <a:p>
            <a:pPr>
              <a:defRPr sz="1100">
                <a:solidFill>
                  <a:srgbClr val="A7B9AF"/>
                </a:solidFill>
              </a:defRPr>
            </a:pPr>
            <a:r>
              <a:t>Exigencia comunitaria de no-deforestación georreferenciada. Sin trazabilidad digital, la fruta no ingresa al mercado europeo.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6035040"/>
            <a:ext cx="10728655" cy="548640"/>
          </a:xfrm>
          <a:prstGeom prst="roundRect">
            <a:avLst/>
          </a:prstGeom>
          <a:solidFill>
            <a:srgbClr val="183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608076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7F3D0"/>
                </a:solidFill>
              </a:defRPr>
            </a:pPr>
            <a:r>
              <a:t>Tesis Central: El agricultor no compra 'tecnología por novedad'; invierte en blindar su patrimonio frente a eventos catastróficos.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02 / MODELO DE SOLUCIÓN INTEGRAL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La Solución AgroTech: La Tríada Regenerativa &amp; Tecnológica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83280" cy="4206240"/>
          </a:xfrm>
          <a:prstGeom prst="roundRect">
            <a:avLst/>
          </a:prstGeom>
          <a:solidFill>
            <a:srgbClr val="13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3017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0B981"/>
                </a:solidFill>
              </a:defRPr>
            </a:pPr>
            <a:r>
              <a:t>🌱 PILAR 1: SUELO VIVO &amp; BIOFÍSICA</a:t>
            </a:r>
          </a:p>
          <a:p>
            <a:pPr>
              <a:spcAft>
                <a:spcPts val="1400"/>
              </a:spcAft>
              <a:defRPr sz="1400" b="1">
                <a:solidFill>
                  <a:srgbClr val="FFFFFF"/>
                </a:solidFill>
              </a:defRPr>
            </a:pPr>
            <a:r>
              <a:t>Permacultura &amp; Agroecología</a:t>
            </a:r>
          </a:p>
          <a:p>
            <a:pPr>
              <a:defRPr sz="1100">
                <a:solidFill>
                  <a:srgbClr val="A7B9AF"/>
                </a:solidFill>
              </a:defRPr>
            </a:pPr>
            <a:r>
              <a:t>• Diseño hidrológico Keyline para retención de agua.</a:t>
            </a:r>
            <a:br/>
            <a:r>
              <a:t>• Zonificación energética de predio (Zonas 0 a 5).</a:t>
            </a:r>
            <a:br/>
            <a:r>
              <a:t>• Fomento de microbioma y consorcios biológicos.</a:t>
            </a:r>
            <a:br/>
            <a:r>
              <a:t>• Respeto absoluto a los ciclos biofísicos de la cuenca.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383280" cy="4206240"/>
          </a:xfrm>
          <a:prstGeom prst="roundRect">
            <a:avLst/>
          </a:prstGeom>
          <a:solidFill>
            <a:srgbClr val="132B20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645920"/>
            <a:ext cx="3017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0B981"/>
                </a:solidFill>
              </a:defRPr>
            </a:pPr>
            <a:r>
              <a:t>💻 PILAR 2: RED DIGITAL &amp; SIMULACIÓN</a:t>
            </a:r>
          </a:p>
          <a:p>
            <a:pPr>
              <a:spcAft>
                <a:spcPts val="1400"/>
              </a:spcAft>
              <a:defRPr sz="1400" b="1">
                <a:solidFill>
                  <a:srgbClr val="FFFFFF"/>
                </a:solidFill>
              </a:defRPr>
            </a:pPr>
            <a:r>
              <a:t>AgriTwin 3D &amp; Telemetría Satelital</a:t>
            </a:r>
          </a:p>
          <a:p>
            <a:pPr>
              <a:defRPr sz="1100">
                <a:solidFill>
                  <a:srgbClr val="A7B9AF"/>
                </a:solidFill>
              </a:defRPr>
            </a:pPr>
            <a:r>
              <a:t>• Gemelo digital 3D interactivo en WebGL.</a:t>
            </a:r>
            <a:br/>
            <a:r>
              <a:t>• Ingesta satelital continua de Sentinel-2 L2A.</a:t>
            </a:r>
            <a:br/>
            <a:r>
              <a:t>• Modelo katabático de drenaje de aire frío (alerta heladas 72h).</a:t>
            </a:r>
            <a:br/>
            <a:r>
              <a:t>• Balance hídrico según FAO-56 Penman-Monteith.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63040"/>
            <a:ext cx="3383280" cy="4206240"/>
          </a:xfrm>
          <a:prstGeom prst="roundRect">
            <a:avLst/>
          </a:prstGeom>
          <a:solidFill>
            <a:srgbClr val="13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645920"/>
            <a:ext cx="3017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0B981"/>
                </a:solidFill>
              </a:defRPr>
            </a:pPr>
            <a:r>
              <a:t>⚙️ PILAR 3: HARDWARE ROBUSTO LOCAL</a:t>
            </a:r>
          </a:p>
          <a:p>
            <a:pPr>
              <a:spcAft>
                <a:spcPts val="1400"/>
              </a:spcAft>
              <a:defRPr sz="1400" b="1">
                <a:solidFill>
                  <a:srgbClr val="FFFFFF"/>
                </a:solidFill>
              </a:defRPr>
            </a:pPr>
            <a:r>
              <a:t>Nodos KioT &amp; Automatización</a:t>
            </a:r>
          </a:p>
          <a:p>
            <a:pPr>
              <a:defRPr sz="1100">
                <a:solidFill>
                  <a:srgbClr val="A7B9AF"/>
                </a:solidFill>
              </a:defRPr>
            </a:pPr>
            <a:r>
              <a:t>• Electrónica fabricada en Chile para resistir barro y polvo.</a:t>
            </a:r>
            <a:br/>
            <a:r>
              <a:t>• Gabinetes estancos IP65 con PETG técnico anti-UV.</a:t>
            </a:r>
            <a:br/>
            <a:r>
              <a:t>• Comunicación LoRaWAN de largo alcance y bajo consumo.</a:t>
            </a:r>
            <a:br/>
            <a:r>
              <a:t>• Actuación autónoma de electroválvulas y sirenas.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852160"/>
            <a:ext cx="10728655" cy="640080"/>
          </a:xfrm>
          <a:prstGeom prst="roundRect">
            <a:avLst/>
          </a:prstGeom>
          <a:solidFill>
            <a:srgbClr val="183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897880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Fundamento: Filosofía de la 'Economía de los Hombros' — La tecnología al servicio de la soberanía comunitaria y la dignidad campesina.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03 / NÚCLEO TECNOLÓGICO PREDIAL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Producto Insigne: AgriTwin Predial 3D &amp; Simulación Permacultural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514600" cy="4023360"/>
          </a:xfrm>
          <a:prstGeom prst="roundRect">
            <a:avLst/>
          </a:prstGeom>
          <a:solidFill>
            <a:srgbClr val="13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22402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F59E0B"/>
                </a:solidFill>
              </a:defRPr>
            </a:pPr>
            <a:r>
              <a:t>1. Ojos en el Espacio</a:t>
            </a:r>
          </a:p>
          <a:p>
            <a:pPr>
              <a:spcAft>
                <a:spcPts val="1200"/>
              </a:spcAft>
              <a:defRPr sz="1400" b="1">
                <a:solidFill>
                  <a:srgbClr val="FFFFFF"/>
                </a:solidFill>
              </a:defRPr>
            </a:pPr>
            <a:r>
              <a:t>Sentinel-2 L2A</a:t>
            </a:r>
          </a:p>
          <a:p>
            <a:pPr>
              <a:defRPr sz="1050">
                <a:solidFill>
                  <a:srgbClr val="A7B9AF"/>
                </a:solidFill>
              </a:defRPr>
            </a:pPr>
            <a:r>
              <a:t>Pases cada 5 días. Índices NDVI (vigor), NDWI (agua) y CWSI (estrés hídrico) a 10m de resolución.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463040"/>
            <a:ext cx="2514600" cy="4023360"/>
          </a:xfrm>
          <a:prstGeom prst="roundRect">
            <a:avLst/>
          </a:prstGeom>
          <a:solidFill>
            <a:srgbClr val="13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645920"/>
            <a:ext cx="22402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F59E0B"/>
                </a:solidFill>
              </a:defRPr>
            </a:pPr>
            <a:r>
              <a:t>2. Gemelo 3D WebGL</a:t>
            </a:r>
          </a:p>
          <a:p>
            <a:pPr>
              <a:spcAft>
                <a:spcPts val="1200"/>
              </a:spcAft>
              <a:defRPr sz="1400" b="1">
                <a:solidFill>
                  <a:srgbClr val="FFFFFF"/>
                </a:solidFill>
              </a:defRPr>
            </a:pPr>
            <a:r>
              <a:t>Biofísica en Tiempo Real</a:t>
            </a:r>
          </a:p>
          <a:p>
            <a:pPr>
              <a:defRPr sz="1050">
                <a:solidFill>
                  <a:srgbClr val="A7B9AF"/>
                </a:solidFill>
              </a:defRPr>
            </a:pPr>
            <a:r>
              <a:t>Modelación de cuarteles, topografía LIDAR y algoritmos FAO-56 Penman-Monteith en 3 estratos de suelo.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463040"/>
            <a:ext cx="2514600" cy="4023360"/>
          </a:xfrm>
          <a:prstGeom prst="roundRect">
            <a:avLst/>
          </a:prstGeom>
          <a:solidFill>
            <a:srgbClr val="13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645920"/>
            <a:ext cx="22402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F59E0B"/>
                </a:solidFill>
              </a:defRPr>
            </a:pPr>
            <a:r>
              <a:t>3. Telemetría In Situ</a:t>
            </a:r>
          </a:p>
          <a:p>
            <a:pPr>
              <a:spcAft>
                <a:spcPts val="1200"/>
              </a:spcAft>
              <a:defRPr sz="1400" b="1">
                <a:solidFill>
                  <a:srgbClr val="FFFFFF"/>
                </a:solidFill>
              </a:defRPr>
            </a:pPr>
            <a:r>
              <a:t>Nodos KioT LoRaWAN</a:t>
            </a:r>
          </a:p>
          <a:p>
            <a:pPr>
              <a:defRPr sz="1050">
                <a:solidFill>
                  <a:srgbClr val="A7B9AF"/>
                </a:solidFill>
              </a:defRPr>
            </a:pPr>
            <a:r>
              <a:t>Sensores a nivel de suelo y canopia, humedad capacitiva y presión. Alerta de heladas con 72h de anticipación.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463040"/>
            <a:ext cx="2514600" cy="4023360"/>
          </a:xfrm>
          <a:prstGeom prst="roundRect">
            <a:avLst/>
          </a:prstGeom>
          <a:solidFill>
            <a:srgbClr val="132B20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0" y="1645920"/>
            <a:ext cx="22402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F59E0B"/>
                </a:solidFill>
              </a:defRPr>
            </a:pPr>
            <a:r>
              <a:t>4. Simulador Permacultural</a:t>
            </a:r>
          </a:p>
          <a:p>
            <a:pPr>
              <a:spcAft>
                <a:spcPts val="1200"/>
              </a:spcAft>
              <a:defRPr sz="1400" b="1">
                <a:solidFill>
                  <a:srgbClr val="FFFFFF"/>
                </a:solidFill>
              </a:defRPr>
            </a:pPr>
            <a:r>
              <a:t>Ahorro -35% a -66%</a:t>
            </a:r>
          </a:p>
          <a:p>
            <a:pPr>
              <a:defRPr sz="1050">
                <a:solidFill>
                  <a:srgbClr val="A7B9AF"/>
                </a:solidFill>
              </a:defRPr>
            </a:pPr>
            <a:r>
              <a:t>Zanjas Keyline, cortinas cortavientos de peumo/quillay y agrovoltaica bifacial en horario valle.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669280"/>
            <a:ext cx="10728655" cy="822960"/>
          </a:xfrm>
          <a:prstGeom prst="roundRect">
            <a:avLst/>
          </a:prstGeom>
          <a:solidFill>
            <a:srgbClr val="183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71500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CASO REAL: PREDIO MENIELS (PARRAL) • 24.8 ha con 8 cuarteles monitoreados en 3D</a:t>
            </a:r>
          </a:p>
          <a:p>
            <a:pPr>
              <a:defRPr sz="1050">
                <a:solidFill>
                  <a:srgbClr val="FFFFFF"/>
                </a:solidFill>
              </a:defRPr>
            </a:pPr>
            <a:r>
              <a:t>Resultados: -38% en costo de electricidad por bombeo nocturno optimizado y 0% de daño en floración durante la última helada de septiembre.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04 / ORDENAMIENTO DE CUENCA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Escala Territorial: AgroTwin Regional y Red Centinela Comunal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486400" cy="4846320"/>
          </a:xfrm>
          <a:prstGeom prst="roundRect">
            <a:avLst/>
          </a:prstGeom>
          <a:solidFill>
            <a:srgbClr val="13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F59E0B"/>
                </a:solidFill>
              </a:defRPr>
            </a:pPr>
            <a:r>
              <a:t>CUENCA PARRAL - RETIRO (122.000 HECTÁREAS)</a:t>
            </a:r>
          </a:p>
          <a:p>
            <a:pPr>
              <a:spcAft>
                <a:spcPts val="800"/>
              </a:spcAft>
              <a:defRPr sz="1200" b="1">
                <a:solidFill>
                  <a:srgbClr val="FFFFFF"/>
                </a:solidFill>
              </a:defRPr>
            </a:pPr>
            <a:r>
              <a:t>Clasificación Satelital de Cobertura y Uso de Suelo (LULC):</a:t>
            </a:r>
          </a:p>
          <a:p>
            <a:pPr>
              <a:defRPr sz="1050">
                <a:solidFill>
                  <a:srgbClr val="A7B9AF"/>
                </a:solidFill>
              </a:defRPr>
            </a:pPr>
            <a:r>
              <a:t>• 42.600 ha Agrícola &amp; Arroz (34.9% cuenca): Polo arrocero nacional expuesto a sequía.</a:t>
            </a:r>
            <a:br/>
            <a:r>
              <a:t>• 31.800 ha Monocultivo Forestal (26.1%): Vector crítico de propagación de incendios.</a:t>
            </a:r>
            <a:br/>
            <a:r>
              <a:t>• 24.100 ha Cordillera Andina (19.8%): Recarga hídrica nivopluvial de la cuenca.</a:t>
            </a:r>
            <a:br/>
            <a:r>
              <a:t>• 18.400 ha Bosque Nativo Esclerófilo (15.1%): Amortiguador térmico y biodiversidad.</a:t>
            </a:r>
            <a:br/>
            <a:r>
              <a:t>• 3.200 ha Embalses &amp; Ríos (2.6%): Regulación hídrica Digua, Bullileo y Perquilauquén.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463040"/>
            <a:ext cx="4937760" cy="4846320"/>
          </a:xfrm>
          <a:prstGeom prst="roundRect">
            <a:avLst/>
          </a:prstGeom>
          <a:solidFill>
            <a:srgbClr val="132B20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6459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10B981"/>
                </a:solidFill>
              </a:defRPr>
            </a:pPr>
            <a:r>
              <a:t>RED CENTINELA TERRESTRE (GROUND-TRUTH MESH)</a:t>
            </a:r>
          </a:p>
          <a:p>
            <a:pPr>
              <a:spcAft>
                <a:spcPts val="800"/>
              </a:spcAft>
              <a:defRPr sz="1200" b="1">
                <a:solidFill>
                  <a:srgbClr val="FFFFFF"/>
                </a:solidFill>
              </a:defRPr>
            </a:pPr>
            <a:r>
              <a:t>¿Cómo se alimenta sin costos astronómicos?</a:t>
            </a:r>
          </a:p>
          <a:p>
            <a:pPr>
              <a:defRPr sz="1050">
                <a:solidFill>
                  <a:srgbClr val="A7B9AF"/>
                </a:solidFill>
              </a:defRPr>
            </a:pPr>
            <a:r>
              <a:t>1. Predios como Boyas Terrestres: Cada predio con AgriTwin calibra la reflectancia satelital con lecturas físicas in situ cada 60 segundos.</a:t>
            </a:r>
            <a:br/>
            <a:br/>
            <a:r>
              <a:t>2. Alerta Temprana de Incendios (FWI): Índice de carga de combustible fino seco en la interfaz rural (Copihue, Remulcao).</a:t>
            </a:r>
            <a:br/>
            <a:br/>
            <a:r>
              <a:t>3. Protección de Comités APR: Semáforo de recarga freática para asegurar el suministro de agua potable a las comunidades rurales.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05 / VALOR GLOBAL &amp; ESG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Nivel Ecosistémico: RewildMapper &amp; Pasaporte Verde de Exportación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846320"/>
          </a:xfrm>
          <a:prstGeom prst="roundRect">
            <a:avLst/>
          </a:prstGeom>
          <a:solidFill>
            <a:srgbClr val="13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8463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0B981"/>
                </a:solidFill>
              </a:defRPr>
            </a:pPr>
            <a:r>
              <a:t>🌳 REWILDMAPPER &amp; BIOMONITOREO</a:t>
            </a:r>
          </a:p>
          <a:p>
            <a:pPr>
              <a:spcAft>
                <a:spcPts val="800"/>
              </a:spcAft>
              <a:defRPr sz="1100" b="1">
                <a:solidFill>
                  <a:srgbClr val="FFFFFF"/>
                </a:solidFill>
              </a:defRPr>
            </a:pPr>
            <a:r>
              <a:t>PWA Offline para Conservación de Bosque Nativo</a:t>
            </a:r>
          </a:p>
          <a:p>
            <a:pPr>
              <a:defRPr sz="1000">
                <a:solidFill>
                  <a:srgbClr val="A7B9AF"/>
                </a:solidFill>
              </a:defRPr>
            </a:pPr>
            <a:r>
              <a:t>• Opera 100% desconectado en quebradas del Maule.</a:t>
            </a:r>
            <a:br/>
            <a:r>
              <a:t>• Registro de especies esclerófilas (peumo, quillay, boldo).</a:t>
            </a:r>
            <a:br/>
            <a:r>
              <a:t>• Emisión de Certificados PBC bajo estándar IPCC Tier-2.</a:t>
            </a:r>
            <a:br/>
            <a:r>
              <a:t>• Monetización: Comisión 12% en venta de tokens ESG a corporaciones.</a:t>
            </a:r>
          </a:p>
        </p:txBody>
      </p:sp>
      <p:pic>
        <p:nvPicPr>
          <p:cNvPr id="7" name="Picture 6" descr="rewildmapper-g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297680"/>
            <a:ext cx="4846320" cy="18288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132B20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600200"/>
            <a:ext cx="48463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F59E0B"/>
                </a:solidFill>
              </a:defRPr>
            </a:pPr>
            <a:r>
              <a:t>🛡️ PASAPORTE VERDE DE EXPORTACIÓN</a:t>
            </a:r>
          </a:p>
          <a:p>
            <a:pPr>
              <a:spcAft>
                <a:spcPts val="800"/>
              </a:spcAft>
              <a:defRPr sz="1100" b="1">
                <a:solidFill>
                  <a:srgbClr val="FFFFFF"/>
                </a:solidFill>
              </a:defRPr>
            </a:pPr>
            <a:r>
              <a:t>Cumplimiento Satelital EUDR para la Unión Europea</a:t>
            </a:r>
          </a:p>
          <a:p>
            <a:pPr>
              <a:defRPr sz="1000">
                <a:solidFill>
                  <a:srgbClr val="A7B9AF"/>
                </a:solidFill>
              </a:defRPr>
            </a:pPr>
            <a:r>
              <a:t>• Certificación llave en mano contra deforestación post-2020 según EUDR.</a:t>
            </a:r>
            <a:br/>
            <a:r>
              <a:t>• Polígonos georreferenciados e histórico satelital auditado.</a:t>
            </a:r>
            <a:br/>
            <a:r>
              <a:t>• Blindaje total frente al bloqueo de fruta en aduanas europeas.</a:t>
            </a:r>
            <a:br/>
            <a:r>
              <a:t>• Modelo de Ingresos: €650 a €1.800 por predio exportador certificado.</a:t>
            </a:r>
          </a:p>
        </p:txBody>
      </p:sp>
      <p:pic>
        <p:nvPicPr>
          <p:cNvPr id="10" name="Picture 9" descr="img-forest-rewil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4297680"/>
            <a:ext cx="484632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06 / PRICING &amp; FINANZAS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Modelo Comercial, Planes y Retorno de Inversión (ROI)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514600" cy="4114800"/>
          </a:xfrm>
          <a:prstGeom prst="roundRect">
            <a:avLst/>
          </a:prstGeom>
          <a:solidFill>
            <a:srgbClr val="13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22402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FFFFFF"/>
                </a:solidFill>
              </a:defRPr>
            </a:pPr>
            <a:r>
              <a:t>BÁSICO (PREDIAL)</a:t>
            </a:r>
          </a:p>
          <a:p>
            <a:pPr>
              <a:spcAft>
                <a:spcPts val="1000"/>
              </a:spcAft>
              <a:defRPr sz="1600" b="1">
                <a:solidFill>
                  <a:srgbClr val="10B981"/>
                </a:solidFill>
              </a:defRPr>
            </a:pPr>
            <a:r>
              <a:t>$45.000 CLP/mes</a:t>
            </a:r>
          </a:p>
          <a:p>
            <a:pPr>
              <a:defRPr sz="1000">
                <a:solidFill>
                  <a:srgbClr val="A7B9AF"/>
                </a:solidFill>
              </a:defRPr>
            </a:pPr>
            <a:r>
              <a:t>Hasta 10 ha</a:t>
            </a:r>
            <a:br/>
            <a:br/>
            <a:r>
              <a:t>• Índices Sentinel-2 (NDVI, NDWI)</a:t>
            </a:r>
            <a:br/>
            <a:r>
              <a:t>• Alerta de heladas vía WhatsApp</a:t>
            </a:r>
            <a:br/>
            <a:r>
              <a:t>• 1 usuario predial</a:t>
            </a:r>
            <a:br/>
            <a:r>
              <a:t>• Setup digital: $120.000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463040"/>
            <a:ext cx="2514600" cy="4114800"/>
          </a:xfrm>
          <a:prstGeom prst="roundRect">
            <a:avLst/>
          </a:prstGeom>
          <a:solidFill>
            <a:srgbClr val="132B20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645920"/>
            <a:ext cx="22402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F59E0B"/>
                </a:solidFill>
              </a:defRPr>
            </a:pPr>
            <a:r>
              <a:t>PRO (FRUTÍCOLA / VIÑA)</a:t>
            </a:r>
          </a:p>
          <a:p>
            <a:pPr>
              <a:spcAft>
                <a:spcPts val="1000"/>
              </a:spcAft>
              <a:defRPr sz="1600" b="1">
                <a:solidFill>
                  <a:srgbClr val="10B981"/>
                </a:solidFill>
              </a:defRPr>
            </a:pPr>
            <a:r>
              <a:t>$85.000 CLP/mes</a:t>
            </a:r>
          </a:p>
          <a:p>
            <a:pPr>
              <a:defRPr sz="1000">
                <a:solidFill>
                  <a:srgbClr val="A7B9AF"/>
                </a:solidFill>
              </a:defRPr>
            </a:pPr>
            <a:r>
              <a:t>Hasta 50 ha</a:t>
            </a:r>
            <a:br/>
            <a:br/>
            <a:r>
              <a:t>• Gemelo 3D WebGL completo</a:t>
            </a:r>
            <a:br/>
            <a:r>
              <a:t>• Balance hídrico FAO-56 diario</a:t>
            </a:r>
            <a:br/>
            <a:r>
              <a:t>• Predicción heladas 72h</a:t>
            </a:r>
            <a:br/>
            <a:r>
              <a:t>• Telemetría KioT multi-nodo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463040"/>
            <a:ext cx="2514600" cy="4114800"/>
          </a:xfrm>
          <a:prstGeom prst="roundRect">
            <a:avLst/>
          </a:prstGeom>
          <a:solidFill>
            <a:srgbClr val="13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645920"/>
            <a:ext cx="22402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FFFFFF"/>
                </a:solidFill>
              </a:defRPr>
            </a:pPr>
            <a:r>
              <a:t>ENTERPRISE / EXPORTADOR</a:t>
            </a:r>
          </a:p>
          <a:p>
            <a:pPr>
              <a:spcAft>
                <a:spcPts val="1000"/>
              </a:spcAft>
              <a:defRPr sz="1600" b="1">
                <a:solidFill>
                  <a:srgbClr val="10B981"/>
                </a:solidFill>
              </a:defRPr>
            </a:pPr>
            <a:r>
              <a:t>$160.000 CLP/mes</a:t>
            </a:r>
          </a:p>
          <a:p>
            <a:pPr>
              <a:defRPr sz="1000">
                <a:solidFill>
                  <a:srgbClr val="A7B9AF"/>
                </a:solidFill>
              </a:defRPr>
            </a:pPr>
            <a:r>
              <a:t>&gt; 50 ha / Exportadoras</a:t>
            </a:r>
            <a:br/>
            <a:br/>
            <a:r>
              <a:t>• Trazabilidad satelital EUDR</a:t>
            </a:r>
            <a:br/>
            <a:r>
              <a:t>• API LoRaWAN ilimitada</a:t>
            </a:r>
            <a:br/>
            <a:r>
              <a:t>• Vuelos multiespectrales dron</a:t>
            </a:r>
            <a:br/>
            <a:r>
              <a:t>• Soporte prioritario 24/7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463040"/>
            <a:ext cx="2514600" cy="4114800"/>
          </a:xfrm>
          <a:prstGeom prst="roundRect">
            <a:avLst/>
          </a:prstGeom>
          <a:solidFill>
            <a:srgbClr val="13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0" y="1645920"/>
            <a:ext cx="22402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FFFFFF"/>
                </a:solidFill>
              </a:defRPr>
            </a:pPr>
            <a:r>
              <a:t>HARDWARE KIOT</a:t>
            </a:r>
          </a:p>
          <a:p>
            <a:pPr>
              <a:spcAft>
                <a:spcPts val="1000"/>
              </a:spcAft>
              <a:defRPr sz="1600" b="1">
                <a:solidFill>
                  <a:srgbClr val="10B981"/>
                </a:solidFill>
              </a:defRPr>
            </a:pPr>
            <a:r>
              <a:t>$185k - $380k CLP</a:t>
            </a:r>
          </a:p>
          <a:p>
            <a:pPr>
              <a:defRPr sz="1000">
                <a:solidFill>
                  <a:srgbClr val="A7B9AF"/>
                </a:solidFill>
              </a:defRPr>
            </a:pPr>
            <a:r>
              <a:t>Venta directa o HaaS</a:t>
            </a:r>
            <a:br/>
            <a:br/>
            <a:r>
              <a:t>• Kit Riego: $185.000 (58% margen)</a:t>
            </a:r>
            <a:br/>
            <a:r>
              <a:t>• Kit Heladas: $220.000</a:t>
            </a:r>
            <a:br/>
            <a:r>
              <a:t>• Modelo HaaS: $28.000/mes</a:t>
            </a:r>
            <a:br/>
            <a:r>
              <a:t>• Instalación vía Cooperativa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760720"/>
            <a:ext cx="10728655" cy="731520"/>
          </a:xfrm>
          <a:prstGeom prst="roundRect">
            <a:avLst/>
          </a:prstGeom>
          <a:solidFill>
            <a:srgbClr val="183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806440"/>
            <a:ext cx="10332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CÁLCULO DE RETORNO (ROI): UNA INVERSIÓN QUE SE PAGA SOLA</a:t>
            </a:r>
          </a:p>
          <a:p>
            <a:pPr>
              <a:defRPr sz="1050">
                <a:solidFill>
                  <a:srgbClr val="FFFFFF"/>
                </a:solidFill>
              </a:defRPr>
            </a:pPr>
            <a:r>
              <a:t>Costo plan anual + kit: ~$1.100.000 CLP. Ahorro en 1 helada evitada en 2 ha: &gt; $30.000.000 CLP. Retorno: &gt; 25 veces la inversión.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07 / ESCALABILIDAD &amp;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Estrategia de Expansión: Escalamiento Territorial y Nuevas Líneas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83280" cy="4846320"/>
          </a:xfrm>
          <a:prstGeom prst="roundRect">
            <a:avLst/>
          </a:prstGeom>
          <a:solidFill>
            <a:srgbClr val="13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0B981"/>
                </a:solidFill>
              </a:defRPr>
            </a:pPr>
            <a:r>
              <a:t>🗺️ EXPANSIÓN GEOGRÁFICA</a:t>
            </a:r>
          </a:p>
          <a:p>
            <a:pPr>
              <a:spcAft>
                <a:spcPts val="1400"/>
              </a:spcAft>
              <a:defRPr sz="1300" b="1">
                <a:solidFill>
                  <a:srgbClr val="FFFFFF"/>
                </a:solidFill>
              </a:defRPr>
            </a:pPr>
            <a:r>
              <a:t>Maule -&gt; Chile -&gt; Europa</a:t>
            </a:r>
          </a:p>
          <a:p>
            <a:pPr>
              <a:defRPr sz="1100">
                <a:solidFill>
                  <a:srgbClr val="A7B9AF"/>
                </a:solidFill>
              </a:defRPr>
            </a:pPr>
            <a:r>
              <a:t>• Fase 1: Consolidación en Valle del Maule (Parral, Retiro, Curicó, Linares).</a:t>
            </a:r>
            <a:br/>
            <a:r>
              <a:t>• Fase 2: Escalamiento a Valles de O'Higgins y Ñuble (fruticultura intensiva y viñas).</a:t>
            </a:r>
            <a:br/>
            <a:r>
              <a:t>• Fase 3: Conexión con cuencas mediterráneas de España y Portugal con idéntico estrés hídrico.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383280" cy="4846320"/>
          </a:xfrm>
          <a:prstGeom prst="roundRect">
            <a:avLst/>
          </a:prstGeom>
          <a:solidFill>
            <a:srgbClr val="13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64592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0B981"/>
                </a:solidFill>
              </a:defRPr>
            </a:pPr>
            <a:r>
              <a:t>⚡ DIVISIÓN AGROVOLTAICA</a:t>
            </a:r>
          </a:p>
          <a:p>
            <a:pPr>
              <a:spcAft>
                <a:spcPts val="1400"/>
              </a:spcAft>
              <a:defRPr sz="1300" b="1">
                <a:solidFill>
                  <a:srgbClr val="FFFFFF"/>
                </a:solidFill>
              </a:defRPr>
            </a:pPr>
            <a:r>
              <a:t>Energía Bifacial en Predios</a:t>
            </a:r>
          </a:p>
          <a:p>
            <a:pPr>
              <a:defRPr sz="1100">
                <a:solidFill>
                  <a:srgbClr val="A7B9AF"/>
                </a:solidFill>
              </a:defRPr>
            </a:pPr>
            <a:r>
              <a:t>• Integración de parques solares bifaciales elevados sobre pasturas y frutales.</a:t>
            </a:r>
            <a:br/>
            <a:r>
              <a:t>• Reducción de hasta un 66% en el consumo neto de la red eléctrica predial.</a:t>
            </a:r>
            <a:br/>
            <a:r>
              <a:t>• Sombra controlada que disminuye la evapotranspiración del cultivo en un 22%.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63040"/>
            <a:ext cx="3383280" cy="4846320"/>
          </a:xfrm>
          <a:prstGeom prst="roundRect">
            <a:avLst/>
          </a:prstGeom>
          <a:solidFill>
            <a:srgbClr val="13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64592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0B981"/>
                </a:solidFill>
              </a:defRPr>
            </a:pPr>
            <a:r>
              <a:t>🎲 EDUCACIÓN &amp; EDULAB</a:t>
            </a:r>
          </a:p>
          <a:p>
            <a:pPr>
              <a:spcAft>
                <a:spcPts val="1400"/>
              </a:spcAft>
              <a:defRPr sz="1300" b="1">
                <a:solidFill>
                  <a:srgbClr val="FFFFFF"/>
                </a:solidFill>
              </a:defRPr>
            </a:pPr>
            <a:r>
              <a:t>Raíces y Chips</a:t>
            </a:r>
          </a:p>
          <a:p>
            <a:pPr>
              <a:defRPr sz="1100">
                <a:solidFill>
                  <a:srgbClr val="A7B9AF"/>
                </a:solidFill>
              </a:defRPr>
            </a:pPr>
            <a:r>
              <a:t>• Juego de cartas y estrategia 'Raíces y Chips' para colegios y familias rurales.</a:t>
            </a:r>
            <a:br/>
            <a:r>
              <a:t>• Seminarios presenciales 'Manos en la Tierra': bioinsumos y permacultura digital.</a:t>
            </a:r>
            <a:br/>
            <a:r>
              <a:t>• Creación de semilleros de talento tecnológico-agrícola local.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08 / GOBERNANZA &amp; ESCALABILIDAD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Gobernanza Territorial: Modelo Dual SpA + Cooperativa &amp; Slicing Pie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83280" cy="3108960"/>
          </a:xfrm>
          <a:prstGeom prst="roundRect">
            <a:avLst/>
          </a:prstGeom>
          <a:solidFill>
            <a:srgbClr val="13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31089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FFFFFF"/>
                </a:solidFill>
              </a:defRPr>
            </a:pPr>
            <a:r>
              <a:t>🏛️ AgroTech SpA</a:t>
            </a:r>
          </a:p>
          <a:p>
            <a:pPr>
              <a:spcAft>
                <a:spcPts val="1000"/>
              </a:spcAft>
              <a:defRPr sz="1000" b="1">
                <a:solidFill>
                  <a:srgbClr val="10B981"/>
                </a:solidFill>
              </a:defRPr>
            </a:pPr>
            <a:r>
              <a:t>Vehículo de Capital e IP</a:t>
            </a:r>
          </a:p>
          <a:p>
            <a:pPr>
              <a:spcAft>
                <a:spcPts val="400"/>
              </a:spcAft>
              <a:defRPr sz="950">
                <a:solidFill>
                  <a:srgbClr val="A7B9AF"/>
                </a:solidFill>
              </a:defRPr>
            </a:pPr>
            <a:r>
              <a:t>• Sociedad por acciones custodia del código fuente y modelos biofísicos.</a:t>
            </a:r>
          </a:p>
          <a:p>
            <a:pPr>
              <a:spcAft>
                <a:spcPts val="400"/>
              </a:spcAft>
              <a:defRPr sz="950">
                <a:solidFill>
                  <a:srgbClr val="A7B9AF"/>
                </a:solidFill>
              </a:defRPr>
            </a:pPr>
            <a:r>
              <a:t>• Titularidad de marcas, patentes y licencias internacionales.</a:t>
            </a:r>
          </a:p>
          <a:p>
            <a:pPr>
              <a:spcAft>
                <a:spcPts val="400"/>
              </a:spcAft>
              <a:defRPr sz="950">
                <a:solidFill>
                  <a:srgbClr val="A7B9AF"/>
                </a:solidFill>
              </a:defRPr>
            </a:pPr>
            <a:r>
              <a:t>• Vehículo limpio para captación de capital privado y fondos de innovación.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463040"/>
            <a:ext cx="3383280" cy="3108960"/>
          </a:xfrm>
          <a:prstGeom prst="roundRect">
            <a:avLst/>
          </a:prstGeom>
          <a:solidFill>
            <a:srgbClr val="13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1600200"/>
            <a:ext cx="31089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FFFFFF"/>
                </a:solidFill>
              </a:defRPr>
            </a:pPr>
            <a:r>
              <a:t>🚜 Cooperativa Territorial</a:t>
            </a:r>
          </a:p>
          <a:p>
            <a:pPr>
              <a:spcAft>
                <a:spcPts val="1000"/>
              </a:spcAft>
              <a:defRPr sz="1000" b="1">
                <a:solidFill>
                  <a:srgbClr val="10B981"/>
                </a:solidFill>
              </a:defRPr>
            </a:pPr>
            <a:r>
              <a:t>Brazo Operativo de Campo</a:t>
            </a:r>
          </a:p>
          <a:p>
            <a:pPr>
              <a:spcAft>
                <a:spcPts val="400"/>
              </a:spcAft>
              <a:defRPr sz="950">
                <a:solidFill>
                  <a:srgbClr val="A7B9AF"/>
                </a:solidFill>
              </a:defRPr>
            </a:pPr>
            <a:r>
              <a:t>• Ensamblaje local de hardware KioT y mantención en predio.</a:t>
            </a:r>
          </a:p>
          <a:p>
            <a:pPr>
              <a:spcAft>
                <a:spcPts val="400"/>
              </a:spcAft>
              <a:defRPr sz="950">
                <a:solidFill>
                  <a:srgbClr val="A7B9AF"/>
                </a:solidFill>
              </a:defRPr>
            </a:pPr>
            <a:r>
              <a:t>• Soporte técnico in situ en menos de 2 horas en la cuenca del Maule.</a:t>
            </a:r>
          </a:p>
          <a:p>
            <a:pPr>
              <a:spcAft>
                <a:spcPts val="400"/>
              </a:spcAft>
              <a:defRPr sz="950">
                <a:solidFill>
                  <a:srgbClr val="A7B9AF"/>
                </a:solidFill>
              </a:defRPr>
            </a:pPr>
            <a:r>
              <a:t>• Distribución equitativa de excedentes operacionales entre técnicos locales.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463040"/>
            <a:ext cx="3383280" cy="3108960"/>
          </a:xfrm>
          <a:prstGeom prst="roundRect">
            <a:avLst/>
          </a:prstGeom>
          <a:solidFill>
            <a:srgbClr val="13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92440" y="1600200"/>
            <a:ext cx="31089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FFFFFF"/>
                </a:solidFill>
              </a:defRPr>
            </a:pPr>
            <a:r>
              <a:t>🥧 Modelo Slicing Pie</a:t>
            </a:r>
          </a:p>
          <a:p>
            <a:pPr>
              <a:spcAft>
                <a:spcPts val="1000"/>
              </a:spcAft>
              <a:defRPr sz="1000" b="1">
                <a:solidFill>
                  <a:srgbClr val="10B981"/>
                </a:solidFill>
              </a:defRPr>
            </a:pPr>
            <a:r>
              <a:t>Justicia Distributiva y Escala</a:t>
            </a:r>
          </a:p>
          <a:p>
            <a:pPr>
              <a:spcAft>
                <a:spcPts val="400"/>
              </a:spcAft>
              <a:defRPr sz="950">
                <a:solidFill>
                  <a:srgbClr val="A7B9AF"/>
                </a:solidFill>
              </a:defRPr>
            </a:pPr>
            <a:r>
              <a:t>• Reparto dinámico según horas técnicas, riesgo y aportes reales de valor.</a:t>
            </a:r>
          </a:p>
          <a:p>
            <a:pPr>
              <a:spcAft>
                <a:spcPts val="400"/>
              </a:spcAft>
              <a:defRPr sz="950">
                <a:solidFill>
                  <a:srgbClr val="A7B9AF"/>
                </a:solidFill>
              </a:defRPr>
            </a:pPr>
            <a:r>
              <a:t>• Blindaje de IP exclusivo en la SpA que previene disputas societarias.</a:t>
            </a:r>
          </a:p>
          <a:p>
            <a:pPr>
              <a:spcAft>
                <a:spcPts val="400"/>
              </a:spcAft>
              <a:defRPr sz="950">
                <a:solidFill>
                  <a:srgbClr val="A7B9AF"/>
                </a:solidFill>
              </a:defRPr>
            </a:pPr>
            <a:r>
              <a:t>• Red de micro-agencias con técnicos agrícolas locales certificados.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754880"/>
            <a:ext cx="10728655" cy="1645920"/>
          </a:xfrm>
          <a:prstGeom prst="roundRect">
            <a:avLst/>
          </a:prstGeom>
          <a:solidFill>
            <a:srgbClr val="183628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84632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F59E0B"/>
                </a:solidFill>
              </a:defRPr>
            </a:pPr>
            <a:r>
              <a:t>🛡️ BLINDAJE ESTRATÉGICO Y ALINEACIÓN DE INCENTIVOS TERRITORIALES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• Separación Estricta: La IP y el software escalable nunca se fragmentan, residen 100% en la SpA.</a:t>
            </a:r>
            <a:br/>
            <a:r>
              <a:t>• Cero Rotación de Terreno: Los instaladores y técnicos locales son cooperados de la entidad operativa, compartiendo beneficios de instalación y fidelizando a las familias agrícolas.</a:t>
            </a:r>
            <a:br/>
            <a:r>
              <a:t>• Escalabilidad Nacional: El modelo se replica por cuencas asociando cooperativas y micro-agencias locales homologadas bajo estándar AgroTech.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914400"/>
            <a:ext cx="9448495" cy="5029200"/>
          </a:xfrm>
          <a:prstGeom prst="roundRect">
            <a:avLst/>
          </a:prstGeom>
          <a:solidFill>
            <a:srgbClr val="132B20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agritw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990" y="1188720"/>
            <a:ext cx="1828800" cy="274588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0" y="2011680"/>
            <a:ext cx="85340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2100" b="1">
                <a:solidFill>
                  <a:srgbClr val="FFFFFF"/>
                </a:solidFill>
              </a:defRPr>
            </a:pPr>
            <a:r>
              <a:t>HAGAMOS DEL CAMPO UN ECOSISTEMA RESILIENTE Y RENTABLE</a:t>
            </a:r>
          </a:p>
          <a:p>
            <a:pPr algn="ctr">
              <a:spcAft>
                <a:spcPts val="2000"/>
              </a:spcAft>
              <a:defRPr sz="1300">
                <a:solidFill>
                  <a:srgbClr val="A7B9AF"/>
                </a:solidFill>
              </a:defRPr>
            </a:pPr>
            <a:r>
              <a:t>Únete a los predios pioneros que ya protegen su cosecha y optimizan sus recursos con AgriTwin.</a:t>
            </a:r>
          </a:p>
          <a:p>
            <a:pPr algn="ctr">
              <a:spcAft>
                <a:spcPts val="1400"/>
              </a:spcAft>
              <a:defRPr sz="1400" b="1">
                <a:solidFill>
                  <a:srgbClr val="F59E0B"/>
                </a:solidFill>
              </a:defRPr>
            </a:pPr>
            <a:r>
              <a:t>AGENDA UN DIAGNÓSTICO PREDIAL GRATUITO O PILOTO DE CAMPO</a:t>
            </a:r>
          </a:p>
          <a:p>
            <a:pPr algn="ctr">
              <a:spcAft>
                <a:spcPts val="1800"/>
              </a:spcAft>
              <a:defRPr sz="1200" b="1">
                <a:solidFill>
                  <a:srgbClr val="FFFFFF"/>
                </a:solidFill>
              </a:defRPr>
            </a:pPr>
            <a:r>
              <a:t>📧 Contacto Directo: danisantander.urrutia@gmail.com</a:t>
            </a:r>
            <a:br/>
            <a:r>
              <a:t>📍 Base de Operaciones: Parral &amp; Talca, Valle del Maule, Chile</a:t>
            </a:r>
            <a:br/>
            <a:r>
              <a:t>🌐 Ecosistema AgroTech: AgriTwin • KioT Hardware • RewildMapper</a:t>
            </a:r>
          </a:p>
          <a:p>
            <a:pPr algn="ctr">
              <a:defRPr sz="1000">
                <a:solidFill>
                  <a:srgbClr val="A7B9AF"/>
                </a:solidFill>
              </a:defRPr>
            </a:pPr>
            <a:r>
              <a:t>Ecosistema AgroTech SpA &amp; Cooperativa de Trabajo • Derechos Reservados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